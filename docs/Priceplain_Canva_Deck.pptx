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7a326609c541bf" /><Relationship Type="http://schemas.openxmlformats.org/officeDocument/2006/relationships/extended-properties" Target="/docProps/app.xml" Id="R9f9420c1c9f24876" /><Relationship Type="http://schemas.openxmlformats.org/officeDocument/2006/relationships/officeDocument" Target="/ppt/presentation.xml" Id="R8d25f6b742694b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a39ba087e54a34"/>
  </p:sldMasterIdLst>
  <p:notesMasterIdLst>
    <p:notesMasterId xmlns:r="http://schemas.openxmlformats.org/officeDocument/2006/relationships" r:id="Rc87223ee359643af"/>
  </p:notesMasterIdLst>
  <p:sldIdLst>
    <p:sldId xmlns:r="http://schemas.openxmlformats.org/officeDocument/2006/relationships" id="256" r:id="Rbb635e9d7a2942ca"/>
    <p:sldId xmlns:r="http://schemas.openxmlformats.org/officeDocument/2006/relationships" id="257" r:id="Rcf4ffe8bebfc49d2"/>
    <p:sldId xmlns:r="http://schemas.openxmlformats.org/officeDocument/2006/relationships" id="258" r:id="R0ed611ec95e1409c"/>
    <p:sldId xmlns:r="http://schemas.openxmlformats.org/officeDocument/2006/relationships" id="259" r:id="Rbeb37d6c930e4647"/>
    <p:sldId xmlns:r="http://schemas.openxmlformats.org/officeDocument/2006/relationships" id="260" r:id="Rdb6b846e6a1046af"/>
    <p:sldId xmlns:r="http://schemas.openxmlformats.org/officeDocument/2006/relationships" id="261" r:id="R80f22c2a134a4df9"/>
    <p:sldId xmlns:r="http://schemas.openxmlformats.org/officeDocument/2006/relationships" id="262" r:id="Re66ae58db9534f58"/>
    <p:sldId xmlns:r="http://schemas.openxmlformats.org/officeDocument/2006/relationships" id="263" r:id="R85abdfe6bc4d45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1834a810a24e8d" /><Relationship Type="http://schemas.openxmlformats.org/officeDocument/2006/relationships/slideMaster" Target="/ppt/slideMasters/slideMaster1.xml" Id="Re8a39ba087e54a34" /><Relationship Type="http://schemas.openxmlformats.org/officeDocument/2006/relationships/notesMaster" Target="/ppt/notesMasters/notesMaster1.xml" Id="Rc87223ee359643af" /><Relationship Type="http://schemas.openxmlformats.org/officeDocument/2006/relationships/presProps" Target="/ppt/presProps.xml" Id="Rcbb7c0d14bbf4e03" /><Relationship Type="http://schemas.openxmlformats.org/officeDocument/2006/relationships/tableStyles" Target="/ppt/tableStyles.xml" Id="Rac7a92bf913d421d" /><Relationship Type="http://schemas.openxmlformats.org/officeDocument/2006/relationships/slide" Target="/ppt/slides/slide1.xml" Id="Rbb635e9d7a2942ca" /><Relationship Type="http://schemas.openxmlformats.org/officeDocument/2006/relationships/slide" Target="/ppt/slides/slide2.xml" Id="Rcf4ffe8bebfc49d2" /><Relationship Type="http://schemas.openxmlformats.org/officeDocument/2006/relationships/slide" Target="/ppt/slides/slide3.xml" Id="R0ed611ec95e1409c" /><Relationship Type="http://schemas.openxmlformats.org/officeDocument/2006/relationships/slide" Target="/ppt/slides/slide4.xml" Id="Rbeb37d6c930e4647" /><Relationship Type="http://schemas.openxmlformats.org/officeDocument/2006/relationships/slide" Target="/ppt/slides/slide5.xml" Id="Rdb6b846e6a1046af" /><Relationship Type="http://schemas.openxmlformats.org/officeDocument/2006/relationships/slide" Target="/ppt/slides/slide6.xml" Id="R80f22c2a134a4df9" /><Relationship Type="http://schemas.openxmlformats.org/officeDocument/2006/relationships/slide" Target="/ppt/slides/slide7.xml" Id="Re66ae58db9534f58" /><Relationship Type="http://schemas.openxmlformats.org/officeDocument/2006/relationships/slide" Target="/ppt/slides/slide8.xml" Id="R85abdfe6bc4d45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6b4760518049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3467ba987e476e" /><Relationship Type="http://schemas.openxmlformats.org/officeDocument/2006/relationships/notesMaster" Target="/ppt/notesMasters/notesMaster1.xml" Id="R670622f87b8746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3bbcb65ab64245" /><Relationship Type="http://schemas.openxmlformats.org/officeDocument/2006/relationships/notesMaster" Target="/ppt/notesMasters/notesMaster1.xml" Id="R2a1b71fa205449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29a45075784819" /><Relationship Type="http://schemas.openxmlformats.org/officeDocument/2006/relationships/notesMaster" Target="/ppt/notesMasters/notesMaster1.xml" Id="R393d4fb96d504e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3155fdc1d64ddc" /><Relationship Type="http://schemas.openxmlformats.org/officeDocument/2006/relationships/notesMaster" Target="/ppt/notesMasters/notesMaster1.xml" Id="R23cdf56ecd2d43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58d1ba6433486b" /><Relationship Type="http://schemas.openxmlformats.org/officeDocument/2006/relationships/notesMaster" Target="/ppt/notesMasters/notesMaster1.xml" Id="R53e01be7e7634c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2eaccde822489e" /><Relationship Type="http://schemas.openxmlformats.org/officeDocument/2006/relationships/notesMaster" Target="/ppt/notesMasters/notesMaster1.xml" Id="Rbf7dcb921a2944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7d79507fb943bb" /><Relationship Type="http://schemas.openxmlformats.org/officeDocument/2006/relationships/notesMaster" Target="/ppt/notesMasters/notesMaster1.xml" Id="Rb3bc79c415d44b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563b23800f434f" /><Relationship Type="http://schemas.openxmlformats.org/officeDocument/2006/relationships/notesMaster" Target="/ppt/notesMasters/notesMaster1.xml" Id="R0a9ed98d6c234a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fb5887aef42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b62ff6fa8144e6" /><Relationship Type="http://schemas.openxmlformats.org/officeDocument/2006/relationships/slideLayout" Target="/ppt/slideLayouts/slideLayout1.xml" Id="R2b16c22a95cd4a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16c22a95cd4a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49d78abe14c26" /><Relationship Type="http://schemas.openxmlformats.org/officeDocument/2006/relationships/image" Target="/ppt/media/image.png" Id="R0510c455b40a470d" /><Relationship Type="http://schemas.openxmlformats.org/officeDocument/2006/relationships/notesSlide" Target="/ppt/notesSlides/notesSlide1.xml" Id="Rb627868a529349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d070875c6474b" /><Relationship Type="http://schemas.openxmlformats.org/officeDocument/2006/relationships/image" Target="/ppt/media/image2.png" Id="Rd7b9645806f64529" /><Relationship Type="http://schemas.openxmlformats.org/officeDocument/2006/relationships/notesSlide" Target="/ppt/notesSlides/notesSlide2.xml" Id="R0c5ddad2629540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81537f880427a" /><Relationship Type="http://schemas.openxmlformats.org/officeDocument/2006/relationships/notesSlide" Target="/ppt/notesSlides/notesSlide3.xml" Id="R99adbbd00c3c4d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99576eeba437e" /><Relationship Type="http://schemas.openxmlformats.org/officeDocument/2006/relationships/notesSlide" Target="/ppt/notesSlides/notesSlide4.xml" Id="R31c11e9142954b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2276caa0948c8" /><Relationship Type="http://schemas.openxmlformats.org/officeDocument/2006/relationships/image" Target="/ppt/media/image3.png" Id="Rfccf6db56db54277" /><Relationship Type="http://schemas.openxmlformats.org/officeDocument/2006/relationships/image" Target="/ppt/media/image4.png" Id="Re78b544f79064da6" /><Relationship Type="http://schemas.openxmlformats.org/officeDocument/2006/relationships/notesSlide" Target="/ppt/notesSlides/notesSlide5.xml" Id="R1b6218b3ad4c49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2d72e34a34340" /><Relationship Type="http://schemas.openxmlformats.org/officeDocument/2006/relationships/notesSlide" Target="/ppt/notesSlides/notesSlide6.xml" Id="Rddbcd3d29ddc44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10e99efe64cc4" /><Relationship Type="http://schemas.openxmlformats.org/officeDocument/2006/relationships/notesSlide" Target="/ppt/notesSlides/notesSlide7.xml" Id="R8849f8004d1a42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c30ac6108417c" /><Relationship Type="http://schemas.openxmlformats.org/officeDocument/2006/relationships/notesSlide" Target="/ppt/notesSlides/notesSlide8.xml" Id="R933b15f6459f48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0c455b40a470d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824CF-FE1D-4C54-898D-D0EA7AD3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0"/>
            <a:ext cx="1695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1171B-B616-4534-AA3B-F60FDF66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0"/>
            <a:ext cx="6858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3EA"/>
              </a:gs>
              <a:gs pos="100000">
                <a:srgbClr val="F7F3EA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CCA17-9BAD-4B65-A1A6-95D18501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1717"/>
                </a:solidFill>
              </a:defRPr>
            </a:pPr>
            <a:r>
              <a:rPr sz="5100" b="1">
                <a:solidFill>
                  <a:srgbClr val="171717"/>
                </a:solidFill>
              </a:rPr>
              <a:t>Priceplain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139EA-3251-40DA-91D0-926B94FD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5"/>
          </a:solidFill>
          <a:ln xmlns:a="http://schemas.openxmlformats.org/drawingml/2006/main" w="0">
            <a:solidFill>
              <a:srgbClr val="00A8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DA019-FCDB-47A6-B328-9B12DD13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0231F"/>
                </a:solidFill>
              </a:defRPr>
            </a:pPr>
            <a:r>
              <a:rPr sz="2325" b="0">
                <a:solidFill>
                  <a:srgbClr val="20231F"/>
                </a:solidFill>
              </a:rPr>
              <a:t>AI pricing copilot for vibe-coded apps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240BD-AF99-4B16-B94D-D91D1B17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4629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25F"/>
                </a:solidFill>
              </a:defRPr>
            </a:pPr>
            <a:r>
              <a:rPr sz="1650" b="0">
                <a:solidFill>
                  <a:srgbClr val="5F625F"/>
                </a:solidFill>
              </a:rPr>
              <a:t>Turns app ideas, usage costs and growth assumptions into pricing tiers, metering events, revenue simulation and a Solvimon-ready handoff.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BD33D-0852-47CB-A029-57C5D30E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Encode Vibe Coding Hackathon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0E805-633F-4B5A-8535-8AB03094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F"/>
                </a:solidFill>
              </a:defRPr>
            </a:pPr>
            <a:r>
              <a:rPr sz="1275" b="0">
                <a:solidFill>
                  <a:srgbClr val="5F625F"/>
                </a:solidFill>
              </a:rPr>
              <a:t>Live demo: priceplain.vercel.app</a:t>
            </a:r>
          </a:p>
        </p:txBody>
      </p:sp>
      <p:sp>
        <p:nvSpPr>
          <p:cNvPr id="10" name="footer-link">
            <a:extLst xmlns:a="http://schemas.openxmlformats.org/drawingml/2006/main">
              <a:ext uri="{FF2B5EF4-FFF2-40B4-BE49-F238E27FC236}">
                <a16:creationId xmlns:a16="http://schemas.microsoft.com/office/drawing/2014/main" id="{6CC75350-B032-4A7A-895D-36B3F4D2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F"/>
                </a:solidFill>
              </a:defRPr>
            </a:pPr>
            <a:r>
              <a:rPr sz="1125" b="0">
                <a:solidFill>
                  <a:srgbClr val="5F625F"/>
                </a:solidFill>
              </a:rPr>
              <a:t>priceplain.vercel.app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4B91C37-D9CA-4D4F-8756-4F05D3C4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25F"/>
                </a:solidFill>
              </a:defRPr>
            </a:pPr>
            <a:r>
              <a:rPr sz="1200" b="1">
                <a:solidFill>
                  <a:srgbClr val="5F625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98588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9EB1604-22E3-4ABD-8A3C-F6D6B697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5"/>
                </a:solidFill>
              </a:defRPr>
            </a:pPr>
            <a:r>
              <a:rPr sz="975" b="1">
                <a:solidFill>
                  <a:srgbClr val="00A875"/>
                </a:solidFill>
              </a:rPr>
              <a:t>PRICEPLAIN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D75948-8B12-41C3-BC2F-651E03F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</a:defRPr>
            </a:pPr>
            <a:r>
              <a:rPr sz="2925" b="1">
                <a:solidFill>
                  <a:srgbClr val="171717"/>
                </a:solidFill>
              </a:rPr>
              <a:t>Fast apps. Slow pricing.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60D86-4209-4411-B9B2-B98E1B06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5"/>
          </a:solidFill>
          <a:ln xmlns:a="http://schemas.openxmlformats.org/drawingml/2006/main" w="0">
            <a:solidFill>
              <a:srgbClr val="00A87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34713-4714-405D-BA29-1B98E28F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875"/>
                </a:solidFill>
              </a:defRPr>
            </a:pPr>
            <a:r>
              <a:rPr sz="180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6FE87-81C1-4D7A-BB0C-4ADBBC74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AI costs move with tokens, media, storage and third-party APIs.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F9D18-75DC-4705-A08B-63DBA39F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875"/>
                </a:solidFill>
              </a:defRPr>
            </a:pPr>
            <a:r>
              <a:rPr sz="180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E66C0-4AAE-4961-B756-CC582940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Guessed unlimited plans can destroy gross margin after launch.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0855E-4206-4377-B96B-322F9645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875"/>
                </a:solidFill>
              </a:defRPr>
            </a:pPr>
            <a:r>
              <a:rPr sz="180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99212-EC62-41E1-85A1-1AE2FEE9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Founders need value metrics and metering decisions before checkout.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27FF6-4114-4336-957B-4DDF0A66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875"/>
                </a:solidFill>
              </a:defRPr>
            </a:pPr>
            <a:r>
              <a:rPr sz="180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DFCD0-2780-42C4-BF82-81F2E1D3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Billing teams need handoff objects, not another generic pricing prompt.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9645806f64529"/>
          <a:srcRect xmlns:a="http://schemas.openxmlformats.org/drawingml/2006/main" l="258" t="0" r="2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1543050"/>
            <a:ext cx="4267200" cy="32766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B114B-9D3F-4636-B21E-1924A86D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05400"/>
            <a:ext cx="23241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86641-D120-411D-9D3F-083129E1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959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A875"/>
                </a:solidFill>
              </a:defRPr>
            </a:pPr>
            <a:r>
              <a:rPr sz="2700" b="1">
                <a:solidFill>
                  <a:srgbClr val="00A875"/>
                </a:solidFill>
              </a:rPr>
              <a:t>Before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B436C-1F2D-4B6B-A335-69C06232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72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F"/>
                </a:solidFill>
              </a:defRPr>
            </a:pPr>
            <a:r>
              <a:rPr sz="1275" b="0">
                <a:solidFill>
                  <a:srgbClr val="5F625F"/>
                </a:solidFill>
              </a:rPr>
              <a:t>pricing reaches billing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1671D-C6B6-4E57-9BBE-85A6C004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05400"/>
            <a:ext cx="23241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A1A54-7446-47B9-A1B6-97B6F4D2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65D4F"/>
                </a:solidFill>
              </a:defRPr>
            </a:pPr>
            <a:r>
              <a:rPr sz="2700" b="1">
                <a:solidFill>
                  <a:srgbClr val="E65D4F"/>
                </a:solidFill>
              </a:rPr>
              <a:t>Margin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D03B4-7D43-4595-9C74-864AFDC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772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F"/>
                </a:solidFill>
              </a:defRPr>
            </a:pPr>
            <a:r>
              <a:rPr sz="1275" b="0">
                <a:solidFill>
                  <a:srgbClr val="5F625F"/>
                </a:solidFill>
              </a:rPr>
              <a:t>risk visible early</a:t>
            </a:r>
          </a:p>
        </p:txBody>
      </p:sp>
      <p:sp>
        <p:nvSpPr>
          <p:cNvPr id="19" name="footer-link">
            <a:extLst xmlns:a="http://schemas.openxmlformats.org/drawingml/2006/main">
              <a:ext uri="{FF2B5EF4-FFF2-40B4-BE49-F238E27FC236}">
                <a16:creationId xmlns:a16="http://schemas.microsoft.com/office/drawing/2014/main" id="{E703B2C0-D64B-48DB-86CC-E959873C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F"/>
                </a:solidFill>
              </a:defRPr>
            </a:pPr>
            <a:r>
              <a:rPr sz="1125" b="0">
                <a:solidFill>
                  <a:srgbClr val="5F625F"/>
                </a:solidFill>
              </a:rPr>
              <a:t>priceplain.vercel.app</a:t>
            </a:r>
          </a:p>
        </p:txBody>
      </p:sp>
      <p:sp>
        <p:nvSpPr>
          <p:cNvPr id="2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0F6766C-2A1B-4840-8F05-BAC079C6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25F"/>
                </a:solidFill>
              </a:defRPr>
            </a:pPr>
            <a:r>
              <a:rPr sz="1200" b="1">
                <a:solidFill>
                  <a:srgbClr val="5F625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8943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B447C5A-F60C-42A3-BB5B-07480B75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5"/>
                </a:solidFill>
              </a:defRPr>
            </a:pPr>
            <a:r>
              <a:rPr sz="975" b="1">
                <a:solidFill>
                  <a:srgbClr val="00A875"/>
                </a:solidFill>
              </a:rPr>
              <a:t>PRICEPLAIN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ED6066-CD88-48F2-AD77-9AD47D15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</a:defRPr>
            </a:pPr>
            <a:r>
              <a:rPr sz="2925" b="1">
                <a:solidFill>
                  <a:srgbClr val="171717"/>
                </a:solidFill>
              </a:rPr>
              <a:t>From rough app idea to pricing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2E57E-B05C-456A-BF6D-08E5DBE5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5"/>
          </a:solidFill>
          <a:ln xmlns:a="http://schemas.openxmlformats.org/drawingml/2006/main" w="0">
            <a:solidFill>
              <a:srgbClr val="00A87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45A44-40D4-4656-BFAD-AC624977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25F"/>
                </a:solidFill>
              </a:defRPr>
            </a:pPr>
            <a:r>
              <a:rPr sz="1725" b="0">
                <a:solidFill>
                  <a:srgbClr val="5F625F"/>
                </a:solidFill>
              </a:rPr>
              <a:t>Priceplain focuses on the planning layer before a founder wires billing, checkout or quote-to-cash.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57A7B-7E57-47A5-AFA9-B29CB764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75"/>
          </a:solidFill>
          <a:ln xmlns:a="http://schemas.openxmlformats.org/drawingml/2006/main" w="0">
            <a:solidFill>
              <a:srgbClr val="00A8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B08F9-9DFE-4E63-A631-7FDC1980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61871-6228-4B5D-A342-F7ACE711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43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Describe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A131F-480D-4ECD-956A-B14C536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25F"/>
                </a:solidFill>
              </a:defRPr>
            </a:pPr>
            <a:r>
              <a:rPr sz="1350" b="0">
                <a:solidFill>
                  <a:srgbClr val="5F625F"/>
                </a:solidFill>
              </a:rPr>
              <a:t>Founder enters product, customer, value metric and cost drivers.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F9AF9-C281-4618-BF46-ADD0BA5E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FDB"/>
          </a:solidFill>
          <a:ln xmlns:a="http://schemas.openxmlformats.org/drawingml/2006/main" w="0">
            <a:solidFill>
              <a:srgbClr val="2B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164BA-E068-45EF-B1A3-03B5C6D4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DB466-6896-497C-B553-27D31367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43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627F4-71D1-4489-BFC9-A8C8862E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24300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25F"/>
                </a:solidFill>
              </a:defRPr>
            </a:pPr>
            <a:r>
              <a:rPr sz="1350" b="0">
                <a:solidFill>
                  <a:srgbClr val="5F625F"/>
                </a:solidFill>
              </a:rPr>
              <a:t>Engine produces tiers, limits, overages and margin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874CF-157C-4F50-982F-31340ABC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03E"/>
          </a:solidFill>
          <a:ln xmlns:a="http://schemas.openxmlformats.org/drawingml/2006/main" w="0">
            <a:solidFill>
              <a:srgbClr val="F4B0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858BC-B768-4286-BDFB-E0E7A603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04949-7322-4BCE-9B8D-80BB31D8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43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Meter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77BCC-7D9A-4536-8A85-3DDA3157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25F"/>
                </a:solidFill>
              </a:defRPr>
            </a:pPr>
            <a:r>
              <a:rPr sz="1350" b="0">
                <a:solidFill>
                  <a:srgbClr val="5F625F"/>
                </a:solidFill>
              </a:rPr>
              <a:t>Suggested events become billing and analytics assumptions.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C99E9-393D-4C20-8529-5CD6E5C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D4F"/>
          </a:solidFill>
          <a:ln xmlns:a="http://schemas.openxmlformats.org/drawingml/2006/main" w="0">
            <a:solidFill>
              <a:srgbClr val="E65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810A7-A6F1-490B-BFC8-C44FEBAB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8C050-ADE6-4597-AA95-F0DC066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43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Export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0A750-0219-45E9-B24D-BD8768FF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24300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25F"/>
                </a:solidFill>
              </a:defRPr>
            </a:pPr>
            <a:r>
              <a:rPr sz="1350" b="0">
                <a:solidFill>
                  <a:srgbClr val="5F625F"/>
                </a:solidFill>
              </a:rPr>
              <a:t>Handoff JSON packages plans, invoice items and implementation notes.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E374A-7D69-4434-9B7B-2412301D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97917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E63A8-6382-4407-97B8-A729B672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Decision support first. Billing implementation second.</a:t>
            </a:r>
          </a:p>
        </p:txBody>
      </p:sp>
      <p:sp>
        <p:nvSpPr>
          <p:cNvPr id="23" name="footer-link">
            <a:extLst xmlns:a="http://schemas.openxmlformats.org/drawingml/2006/main">
              <a:ext uri="{FF2B5EF4-FFF2-40B4-BE49-F238E27FC236}">
                <a16:creationId xmlns:a16="http://schemas.microsoft.com/office/drawing/2014/main" id="{314C239D-5713-4D28-BB8F-A5C1D919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F"/>
                </a:solidFill>
              </a:defRPr>
            </a:pPr>
            <a:r>
              <a:rPr sz="1125" b="0">
                <a:solidFill>
                  <a:srgbClr val="5F625F"/>
                </a:solidFill>
              </a:rPr>
              <a:t>priceplain.vercel.app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04919C3-57CC-4E5F-8C53-08D57FAE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25F"/>
                </a:solidFill>
              </a:defRPr>
            </a:pPr>
            <a:r>
              <a:rPr sz="1200" b="1">
                <a:solidFill>
                  <a:srgbClr val="5F625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47715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B695F54-389C-443C-BD6D-65CDEF46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5"/>
                </a:solidFill>
              </a:defRPr>
            </a:pPr>
            <a:r>
              <a:rPr sz="975" b="1">
                <a:solidFill>
                  <a:srgbClr val="00A875"/>
                </a:solidFill>
              </a:rPr>
              <a:t>PRICEPLAIN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859F38-BAA2-4BA2-A91F-EF8CEA08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</a:defRPr>
            </a:pPr>
            <a:r>
              <a:rPr sz="2925" b="1">
                <a:solidFill>
                  <a:srgbClr val="171717"/>
                </a:solidFill>
              </a:rPr>
              <a:t>Built for Solvimon and Codeplain.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F9032-E5DD-45EB-B0A1-856A33D5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5"/>
          </a:solidFill>
          <a:ln xmlns:a="http://schemas.openxmlformats.org/drawingml/2006/main" w="0">
            <a:solidFill>
              <a:srgbClr val="00A87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0AED9-F7BE-46B8-BFE2-AA5F1B4A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0673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3FBF7"/>
          </a:solidFill>
          <a:ln xmlns:a="http://schemas.openxmlformats.org/drawingml/2006/main" w="9525">
            <a:solidFill>
              <a:srgbClr val="00A8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45635-1FB0-47A4-B509-974FCA78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875"/>
                </a:solidFill>
              </a:defRPr>
            </a:pPr>
            <a:r>
              <a:rPr sz="2550" b="1">
                <a:solidFill>
                  <a:srgbClr val="00A875"/>
                </a:solidFill>
              </a:rPr>
              <a:t>Solvimon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CA700-B525-482A-999D-7829473A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2A15F-2021-4BA3-93B4-CA2D58C5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098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Hybrid and usage-based pricing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10033-5466-44D8-9FB2-18DE2BD5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35909-37E0-4252-8C15-A18CFEEA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Value metric and meter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7FB97-4613-4A42-A02A-6186C2D0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806D9-C8EC-4918-9C1C-21E7DC67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Plans, invoice items and credits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F8CC8-8189-4DFF-BD2B-9D85A4A1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36985-8136-4283-A0A9-562A965F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81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JSON handoff for checkout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381F7-8DDC-4DFF-80C5-AFBC986C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50673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9525">
            <a:solidFill>
              <a:srgbClr val="2B6F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EC857-95D0-4003-82C8-6020D723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62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6FDB"/>
                </a:solidFill>
              </a:defRPr>
            </a:pPr>
            <a:r>
              <a:rPr sz="2550" b="1">
                <a:solidFill>
                  <a:srgbClr val="2B6FDB"/>
                </a:solidFill>
              </a:rPr>
              <a:t>Codeplain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E55A2-43A2-4F1A-B3F1-A7C0EA06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28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10EE7-4438-4125-8971-1B1FF7E5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Product MVP spec in .plain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4EDB75-A4DF-4236-BA63-F5DB09DD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86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EC9D1-8494-479C-B984-7B6BA3C7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670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Pricing-engine rules in .plain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DB963-5D9A-4114-9DF4-F12410BD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43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42AB9-1CCC-4670-B21D-080DD5E6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242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Acceptance tests in .plain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E9558-9E53-44C2-A7BE-33710165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F5ED9A-9358-4198-A9A9-324D8E54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81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Spec-driven demo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DB1FC-24DE-4831-A1DF-63EF1298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25F"/>
                </a:solidFill>
              </a:defRPr>
            </a:pPr>
            <a:r>
              <a:rPr sz="1500" b="0">
                <a:solidFill>
                  <a:srgbClr val="5F625F"/>
                </a:solidFill>
              </a:rPr>
              <a:t>Primary tracks: Solvimon + Codeplain. Secondary fit: Vercel deployment and optional FLock-aligned sovereign review.</a:t>
            </a:r>
          </a:p>
        </p:txBody>
      </p:sp>
      <p:sp>
        <p:nvSpPr>
          <p:cNvPr id="25" name="footer-link">
            <a:extLst xmlns:a="http://schemas.openxmlformats.org/drawingml/2006/main">
              <a:ext uri="{FF2B5EF4-FFF2-40B4-BE49-F238E27FC236}">
                <a16:creationId xmlns:a16="http://schemas.microsoft.com/office/drawing/2014/main" id="{45779BEB-9D41-46D7-B9EF-BB820232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F"/>
                </a:solidFill>
              </a:defRPr>
            </a:pPr>
            <a:r>
              <a:rPr sz="1125" b="0">
                <a:solidFill>
                  <a:srgbClr val="5F625F"/>
                </a:solidFill>
              </a:rPr>
              <a:t>priceplain.vercel.app</a:t>
            </a:r>
          </a:p>
        </p:txBody>
      </p:sp>
      <p:sp>
        <p:nvSpPr>
          <p:cNvPr id="2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53699B0-6B55-4FFE-995B-F9B7D3E6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25F"/>
                </a:solidFill>
              </a:defRPr>
            </a:pPr>
            <a:r>
              <a:rPr sz="1200" b="1">
                <a:solidFill>
                  <a:srgbClr val="5F625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5043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8F0EF4B-9F48-460F-B59B-8A5FDB3F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5"/>
                </a:solidFill>
              </a:defRPr>
            </a:pPr>
            <a:r>
              <a:rPr sz="975" b="1">
                <a:solidFill>
                  <a:srgbClr val="00A875"/>
                </a:solidFill>
              </a:rPr>
              <a:t>PRICEPLAIN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300612-79D6-425D-95F4-38B37AE4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</a:defRPr>
            </a:pPr>
            <a:r>
              <a:rPr sz="2925" b="1">
                <a:solidFill>
                  <a:srgbClr val="171717"/>
                </a:solidFill>
              </a:rPr>
              <a:t>Demo proof: pricing to billing.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7DA51-6856-453A-BF32-D6D0E33F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5"/>
          </a:solidFill>
          <a:ln xmlns:a="http://schemas.openxmlformats.org/drawingml/2006/main" w="0">
            <a:solidFill>
              <a:srgbClr val="00A87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1B3C7-1732-4977-A50C-4150AE9E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25F"/>
                </a:solidFill>
              </a:defRPr>
            </a:pPr>
            <a:r>
              <a:rPr sz="1650" b="0">
                <a:solidFill>
                  <a:srgbClr val="5F625F"/>
                </a:solidFill>
              </a:rPr>
              <a:t>Three screens matter in the judge flow: pricing economics, Solvimon handoff, and submission evidence.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f6db56db54277"/>
          <a:srcRect xmlns:a="http://schemas.openxmlformats.org/drawingml/2006/main" l="0" t="24601" r="0" b="246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133600"/>
            <a:ext cx="5010150" cy="3181350"/>
          </a:xfrm>
          <a:prstGeom xmlns:a="http://schemas.openxmlformats.org/drawingml/2006/main" prst="roundRect">
            <a:avLst>
              <a:gd name="adj" fmla="val 3593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b544f79064da6"/>
          <a:srcRect xmlns:a="http://schemas.openxmlformats.org/drawingml/2006/main" l="0" t="24601" r="0" b="246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133600"/>
            <a:ext cx="5010150" cy="3181350"/>
          </a:xfrm>
          <a:prstGeom xmlns:a="http://schemas.openxmlformats.org/drawingml/2006/main" prst="roundRect">
            <a:avLst>
              <a:gd name="adj" fmla="val 35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059A7-BD7A-4D37-94F3-12F1767D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Solvimon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3D6E5-481F-4F1A-B58A-2CA23206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673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Submission pack</a:t>
            </a:r>
          </a:p>
        </p:txBody>
      </p:sp>
      <p:sp>
        <p:nvSpPr>
          <p:cNvPr id="9" name="footer-link">
            <a:extLst xmlns:a="http://schemas.openxmlformats.org/drawingml/2006/main">
              <a:ext uri="{FF2B5EF4-FFF2-40B4-BE49-F238E27FC236}">
                <a16:creationId xmlns:a16="http://schemas.microsoft.com/office/drawing/2014/main" id="{D885B3BC-9CBC-4512-BE31-25FB27EE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F"/>
                </a:solidFill>
              </a:defRPr>
            </a:pPr>
            <a:r>
              <a:rPr sz="1125" b="0">
                <a:solidFill>
                  <a:srgbClr val="5F625F"/>
                </a:solidFill>
              </a:rPr>
              <a:t>priceplain.vercel.app</a:t>
            </a:r>
          </a:p>
        </p:txBody>
      </p:sp>
      <p:sp>
        <p:nvSpPr>
          <p:cNvPr id="1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DBCC1E7-E48D-4DB7-8F84-50E7212D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25F"/>
                </a:solidFill>
              </a:defRPr>
            </a:pPr>
            <a:r>
              <a:rPr sz="1200" b="1">
                <a:solidFill>
                  <a:srgbClr val="5F625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7177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5102E59-D40F-42D1-8FF8-9A6AD165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5"/>
                </a:solidFill>
              </a:defRPr>
            </a:pPr>
            <a:r>
              <a:rPr sz="975" b="1">
                <a:solidFill>
                  <a:srgbClr val="00A875"/>
                </a:solidFill>
              </a:rPr>
              <a:t>PRICEPLAIN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386BAA-8158-44C9-8669-3E8F0BA3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</a:defRPr>
            </a:pPr>
            <a:r>
              <a:rPr sz="2925" b="1">
                <a:solidFill>
                  <a:srgbClr val="171717"/>
                </a:solidFill>
              </a:rPr>
              <a:t>Business potential: sell the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AD4B4-60B9-496F-AB10-F0FF6ABD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5"/>
          </a:solidFill>
          <a:ln xmlns:a="http://schemas.openxmlformats.org/drawingml/2006/main" w="0">
            <a:solidFill>
              <a:srgbClr val="00A87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5306E-E9F5-4D6A-A008-3452D138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Customer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9A49E-FF42-42BA-BE60-303FE64F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EBC36-5800-4C93-A67D-4E5D94C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AI SaaS founders with variable model/API costs.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C16F1-3F80-4281-BB61-0270BCE9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4EAB8-0767-45CC-83D7-29474A0C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Teams launching on Vercel before pricing is settled.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9824B-0E36-44BD-B6A1-0B40E2CC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3454F-91F2-49F3-991E-7D353105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Product teams migrating towards usage-based billing.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F1BA0-D732-4B21-8B5D-8601F0C0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Revenue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95105-7F19-4484-A540-5ECC294F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88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B5160-6614-4618-A5EE-07ED99CD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Free pricing audit to capture demand.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DEECA-BD4B-468F-BC17-89A2B1E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A1802-F9E1-45D7-A8EF-B3F72BF2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Paid saved workspaces and export reports.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7D0F3-08B0-43BC-BF6D-C2384505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4F203-05DD-45AF-B2FD-2BD413D6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147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Billing templates and Solvimon handoff support.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9D9DE-7022-48DE-976E-86DDEE68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896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F4B0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CCDFB-1EBC-456C-8153-F2C150E1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1013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Different because it links value metric, usage cost, pricing tiers, overages, margin risk and billing objects in one workflow.</a:t>
            </a:r>
          </a:p>
        </p:txBody>
      </p:sp>
      <p:sp>
        <p:nvSpPr>
          <p:cNvPr id="20" name="footer-link">
            <a:extLst xmlns:a="http://schemas.openxmlformats.org/drawingml/2006/main">
              <a:ext uri="{FF2B5EF4-FFF2-40B4-BE49-F238E27FC236}">
                <a16:creationId xmlns:a16="http://schemas.microsoft.com/office/drawing/2014/main" id="{1E1B732C-7E4F-48A2-AC2C-AAA84B4C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F"/>
                </a:solidFill>
              </a:defRPr>
            </a:pPr>
            <a:r>
              <a:rPr sz="1125" b="0">
                <a:solidFill>
                  <a:srgbClr val="5F625F"/>
                </a:solidFill>
              </a:rPr>
              <a:t>priceplain.vercel.app</a:t>
            </a:r>
          </a:p>
        </p:txBody>
      </p:sp>
      <p:sp>
        <p:nvSpPr>
          <p:cNvPr id="2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59FCD4B-9D7E-4DA7-B0C0-423AA8FB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25F"/>
                </a:solidFill>
              </a:defRPr>
            </a:pPr>
            <a:r>
              <a:rPr sz="1200" b="1">
                <a:solidFill>
                  <a:srgbClr val="5F625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3053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E6E87A6-B05B-4ECB-A021-F2F19B9B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5"/>
                </a:solidFill>
              </a:defRPr>
            </a:pPr>
            <a:r>
              <a:rPr sz="975" b="1">
                <a:solidFill>
                  <a:srgbClr val="00A875"/>
                </a:solidFill>
              </a:rPr>
              <a:t>PRICEPLAIN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4FC0FA-9989-418E-9496-7C2D07A7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</a:defRPr>
            </a:pPr>
            <a:r>
              <a:rPr sz="2925" b="1">
                <a:solidFill>
                  <a:srgbClr val="171717"/>
                </a:solidFill>
              </a:rPr>
              <a:t>OpenAI-style pricing planning.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2C621-7A1A-48C7-B291-E8917F0B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5"/>
          </a:solidFill>
          <a:ln xmlns:a="http://schemas.openxmlformats.org/drawingml/2006/main" w="0">
            <a:solidFill>
              <a:srgbClr val="00A87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3BB87-C22D-46E6-AE61-C6D199D0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25F"/>
                </a:solidFill>
              </a:defRPr>
            </a:pPr>
            <a:r>
              <a:rPr sz="1725" b="0">
                <a:solidFill>
                  <a:srgbClr val="5F625F"/>
                </a:solidFill>
              </a:rPr>
              <a:t>The same questions apply to larger AI platforms: what is metered, what is included, where credits fit, and how margins change as usage scales.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96808-93BF-41B1-9807-37129F21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424E3-D7D2-4AC6-AB71-B0101EB8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5"/>
                </a:solidFill>
              </a:defRPr>
            </a:pPr>
            <a:r>
              <a:rPr sz="1650" b="1">
                <a:solidFill>
                  <a:srgbClr val="00A875"/>
                </a:solidFill>
              </a:rPr>
              <a:t>Meter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1F5EA-D2B8-4E43-9B0A-86F93B39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Tokens, runs, seats, storage, media, API calls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EADCF-AEAC-44EE-B2B1-CB2FC1EA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6CE77-C806-4CE3-AEC8-195BD20E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6FDB"/>
                </a:solidFill>
              </a:defRPr>
            </a:pPr>
            <a:r>
              <a:rPr sz="1650" b="1">
                <a:solidFill>
                  <a:srgbClr val="2B6FDB"/>
                </a:solidFill>
              </a:rPr>
              <a:t>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D5169-1C68-4E6B-8B72-417D8541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Free limits, credits, service tiers, enterprise plans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1480A-F7EB-4F39-8B1F-A305D94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FE03B-8F97-44B0-AB5B-3F779F6D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B03E"/>
                </a:solidFill>
              </a:defRPr>
            </a:pPr>
            <a:r>
              <a:rPr sz="1650" b="1">
                <a:solidFill>
                  <a:srgbClr val="F4B03E"/>
                </a:solidFill>
              </a:rPr>
              <a:t>Stress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8D9A2-39CC-4E6E-87CF-1B54D945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624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Model-cost changes, high-usage users, churn, conversion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A98BA-30BB-447C-BF7F-0760B2C7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8DF6E-95C5-4D79-B338-245467C0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5D4F"/>
                </a:solidFill>
              </a:defRPr>
            </a:pPr>
            <a:r>
              <a:rPr sz="1650" b="1">
                <a:solidFill>
                  <a:srgbClr val="E65D4F"/>
                </a:solidFill>
              </a:rPr>
              <a:t>Handoff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8DF88-CFBD-42ED-A804-8522D3B7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Billing events, invoice lines, plan rules, audit 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D55A3-30E0-4C54-BB7B-B17BCE1D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25F"/>
                </a:solidFill>
              </a:defRPr>
            </a:pPr>
            <a:r>
              <a:rPr sz="1350" b="0">
                <a:solidFill>
                  <a:srgbClr val="5F625F"/>
                </a:solidFill>
              </a:rPr>
              <a:t>Guardrail: this is a planning use case for companies like OpenAI, not a claim that OpenAI uses or validated Priceplain.</a:t>
            </a:r>
          </a:p>
        </p:txBody>
      </p:sp>
      <p:sp>
        <p:nvSpPr>
          <p:cNvPr id="18" name="footer-link">
            <a:extLst xmlns:a="http://schemas.openxmlformats.org/drawingml/2006/main">
              <a:ext uri="{FF2B5EF4-FFF2-40B4-BE49-F238E27FC236}">
                <a16:creationId xmlns:a16="http://schemas.microsoft.com/office/drawing/2014/main" id="{ECD42BA5-1852-4F62-B8A6-CBC52E58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F"/>
                </a:solidFill>
              </a:defRPr>
            </a:pPr>
            <a:r>
              <a:rPr sz="1125" b="0">
                <a:solidFill>
                  <a:srgbClr val="5F625F"/>
                </a:solidFill>
              </a:rPr>
              <a:t>priceplain.vercel.app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5A5667B-34EB-4BFD-B9C7-0DA80318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25F"/>
                </a:solidFill>
              </a:defRPr>
            </a:pPr>
            <a:r>
              <a:rPr sz="1200" b="1">
                <a:solidFill>
                  <a:srgbClr val="5F625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74987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695A4C-8B17-454B-BB40-5F3C1A7C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What happens after the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735F1-CE07-41D7-94E5-81DC130A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5"/>
          </a:solidFill>
          <a:ln xmlns:a="http://schemas.openxmlformats.org/drawingml/2006/main" w="0">
            <a:solidFill>
              <a:srgbClr val="00A8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24EAC-467B-4AB5-A599-6ECE20D1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75"/>
                </a:solidFill>
              </a:defRPr>
            </a:pPr>
            <a:r>
              <a:rPr sz="1875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4E3F8-B753-4538-9EB6-DA297D5E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DBD2"/>
                </a:solidFill>
              </a:defRPr>
            </a:pPr>
            <a:r>
              <a:rPr sz="1875" b="0">
                <a:solidFill>
                  <a:srgbClr val="D7DBD2"/>
                </a:solidFill>
              </a:rPr>
              <a:t>Create a live Solvimon checkout adapter from the handoff JSON.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264A3-A0B2-42E6-B071-A07F0840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75"/>
                </a:solidFill>
              </a:defRPr>
            </a:pPr>
            <a:r>
              <a:rPr sz="1875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08312-9080-4F69-9A89-892E1805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DBD2"/>
                </a:solidFill>
              </a:defRPr>
            </a:pPr>
            <a:r>
              <a:rPr sz="1875" b="0">
                <a:solidFill>
                  <a:srgbClr val="D7DBD2"/>
                </a:solidFill>
              </a:rPr>
              <a:t>Run founder interviews and collect pricing-page conversion signals.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FDB26-7680-45D5-96DB-66A18F4C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75"/>
                </a:solidFill>
              </a:defRPr>
            </a:pPr>
            <a:r>
              <a:rPr sz="1875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834D9-2E7F-4D41-9005-729B2390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DBD2"/>
                </a:solidFill>
              </a:defRPr>
            </a:pPr>
            <a:r>
              <a:rPr sz="1875" b="0">
                <a:solidFill>
                  <a:srgbClr val="D7DBD2"/>
                </a:solidFill>
              </a:rPr>
              <a:t>Add saved workspaces, benchmark presets and collaboration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752C9-E39A-498A-800A-24800962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75"/>
                </a:solidFill>
              </a:defRPr>
            </a:pPr>
            <a:r>
              <a:rPr sz="1875" b="1">
                <a:solidFill>
                  <a:srgbClr val="00A875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91FCD-8182-434A-BAAC-44430707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DBD2"/>
                </a:solidFill>
              </a:defRPr>
            </a:pPr>
            <a:r>
              <a:rPr sz="1875" b="0">
                <a:solidFill>
                  <a:srgbClr val="D7DBD2"/>
                </a:solidFill>
              </a:rPr>
              <a:t>Build audit trails for AI pricing decisions in regulated teams.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BCAEB-EB63-407A-857F-15261834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8966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AEACF-4A35-4C10-A88F-EEECA094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721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31F"/>
                </a:solidFill>
              </a:defRPr>
            </a:pPr>
            <a:r>
              <a:rPr sz="1575" b="1">
                <a:solidFill>
                  <a:srgbClr val="20231F"/>
                </a:solidFill>
              </a:rPr>
              <a:t>Ask: judge Priceplain as the planning layer that helps AI builders answer what to charge, what to meter, and whether the model can make money.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8C419-95BB-489C-92B2-5C6EBB20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BD2"/>
                </a:solidFill>
              </a:defRPr>
            </a:pPr>
            <a:r>
              <a:rPr sz="1350" b="0">
                <a:solidFill>
                  <a:srgbClr val="D7DBD2"/>
                </a:solidFill>
              </a:rPr>
              <a:t>Demo: priceplain.vercel.app  |  Code: github.com/MasteraSnackin/Priceplain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6FCC5-2566-48A5-81AA-72E29825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DBD2"/>
                </a:solidFill>
              </a:defRPr>
            </a:pPr>
            <a:r>
              <a:rPr sz="1200" b="1">
                <a:solidFill>
                  <a:srgbClr val="D7DBD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2579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2026-06-21T06:54:35.1270000Z</dcterms:created>
  <dcterms:modified xsi:type="dcterms:W3CDTF">2026-06-21T06:54:35.1270000Z</dcterms:modified>
</coreProperties>
</file>